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9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5" d="100"/>
          <a:sy n="205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633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333F1-FE02-03F8-1C0D-F6AE8AFC5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D5480-6B31-32B6-F995-B544E1847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447EF-56C0-8BB9-E2FA-2A44B2904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4C499-B516-38CA-2A3D-EC7913E960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24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설치 오류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2057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분석 및 해결 가이드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4572000" cy="36576"/>
          </a:xfrm>
          <a:prstGeom prst="rect">
            <a:avLst/>
          </a:prstGeom>
          <a:solidFill>
            <a:srgbClr val="2A3F55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 경로 설치 → VS Code Extension 설정 충돌 문제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4114800"/>
            <a:ext cx="2103120" cy="64008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0" y="4114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 ×  VS Code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설치 시 생성되는 두 폴더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347472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931920" cy="73152"/>
          </a:xfrm>
          <a:prstGeom prst="rect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esp-idf  폴더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레시피 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개발에 필요한 모든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소스코드 본체</a:t>
            </a:r>
            <a:endParaRPr lang="en-US" sz="1300" dirty="0"/>
          </a:p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</a:t>
            </a:r>
            <a:r>
              <a:rPr lang="ko-KR" alt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사용하기 편하게 미리 만들어놓은 파일들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WiFi, BT, GPIO 등 컴포넌트 코드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예제 프로젝트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CMake 빌드 설정 파일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92040" y="914400"/>
            <a:ext cx="3931920" cy="347472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892040" y="914400"/>
            <a:ext cx="3931920" cy="73152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74920" y="1051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.espressif  폴더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7492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주방 도구 세트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9202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레시피를 실제로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실행하는 빌드 도구들</a:t>
            </a:r>
            <a:endParaRPr lang="en-US" sz="1300" dirty="0"/>
          </a:p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ESP32</a:t>
            </a:r>
            <a:r>
              <a:rPr lang="ko-KR" alt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실행할 수 있도록 만드는 도구들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컴파일러 (xtensa-gcc)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가상환경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플래시 툴 (esptool)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51960" y="2286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206240" y="2834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111C27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C:\esp\esp-idf            C:\Users\사용자명\.espressif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 의 역할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= 주방장   |   settings.json = 주방장의 메모장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"idf.espIdfPath"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0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"C:/esp/esp-idf"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"idf.toolsPath"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0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"C:/Users/사용자명/.espressif"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3657600"/>
            <a:ext cx="8503920" cy="5486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20040" y="3657600"/>
            <a:ext cx="64008" cy="548640"/>
          </a:xfrm>
          <a:prstGeom prst="rect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esp-idf 경로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36576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어떤 API와 컴포넌트를 쓸지 참조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4343400"/>
            <a:ext cx="8503920" cy="5486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0040" y="4343400"/>
            <a:ext cx="64008" cy="54864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4343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espressif 경로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43434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어떤 컴파일러와 툴을 쓸지 참조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 경로에서 무슨 일이 생기나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9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"idf.toolsPath": </a:t>
            </a:r>
            <a:r>
              <a:rPr lang="en-US" sz="140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"C:/Users/</a:t>
            </a:r>
            <a:r>
              <a:rPr lang="en-US" sz="14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홍길동</a:t>
            </a:r>
            <a:r>
              <a:rPr lang="en-US" sz="140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/.espressif"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0" y="8686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경로에 한글 포함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8503920" cy="86868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502920" cy="868680"/>
          </a:xfrm>
          <a:prstGeom prst="rect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0040" y="178308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82880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Extension이 빌드 명령 실행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16712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터미널(cmd)에 경로를 포함한 명령어를 입력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8503920" cy="86868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0040" y="2788920"/>
            <a:ext cx="50292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0040" y="278892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283464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가 한글 경로를 해석 실패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1729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오래된 터미널 시스템은 한글 경로를 명령어로 처리 못함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해당 경로가 "존재하지 않는 주소"가 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794760"/>
            <a:ext cx="8503920" cy="86868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20040" y="3794760"/>
            <a:ext cx="502920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20040" y="379476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384048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 / 플래시 오류 발생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417880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컴파일러와 툴을 찾지 못해 오류 메시지 출력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재설치해도 계속 안되나 — 핵심 원인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재설치 후 상황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3931920" cy="640080"/>
          </a:xfrm>
          <a:prstGeom prst="rect">
            <a:avLst/>
          </a:prstGeom>
          <a:solidFill>
            <a:srgbClr val="1E2D3D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폴더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C:/esp/esp-idf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3931920" cy="640080"/>
          </a:xfrm>
          <a:prstGeom prst="rect">
            <a:avLst/>
          </a:prstGeom>
          <a:solidFill>
            <a:srgbClr val="1E2D3D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.espressif 폴더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C:/esp/.espressif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3931920" cy="640080"/>
          </a:xfrm>
          <a:prstGeom prst="rect">
            <a:avLst/>
          </a:prstGeom>
          <a:solidFill>
            <a:srgbClr val="1E2D3D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11480" y="28346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settings.json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1546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C:/Users/홍길동/.espressif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4C3C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89204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1280160"/>
            <a:ext cx="3931920" cy="2331720"/>
          </a:xfrm>
          <a:prstGeom prst="rect">
            <a:avLst/>
          </a:prstGeom>
          <a:solidFill>
            <a:srgbClr val="1A0000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29200" y="1371600"/>
            <a:ext cx="3657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Extension이 settings.json 을 읽는다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저장된 경로: </a:t>
            </a: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C:/Users/홍길동/.espressif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경로로 도구를 찾으러 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존재하지 않는 경로  →  오류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931920"/>
            <a:ext cx="8503920" cy="86868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폴더를 새로 설치해도  settings.json 이 그대로이면  같은 오류가 반복됩니다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순서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178308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07899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폴더 완전 삭제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esp-idf 폴더 삭제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.espressif 폴더 삭제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14800" cy="178308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1480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846320" y="1078992"/>
            <a:ext cx="411480" cy="4114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1078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07899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영문 경로에 재설치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6002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경로 예: C:\esp\esp-idf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경로에 한글·공백·특수문자 없을 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4114800" cy="178308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20040" y="2880360"/>
            <a:ext cx="4114800" cy="64008"/>
          </a:xfrm>
          <a:prstGeom prst="rect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3044952"/>
            <a:ext cx="411480" cy="411480"/>
          </a:xfrm>
          <a:prstGeom prst="ellipse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3044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04495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“IDF_PATH”</a:t>
            </a:r>
            <a:r>
              <a:rPr lang="ko-KR" alt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 관련된 내용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5661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idf.espIdfPath → 새 경로로 변경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idf.toolsPath → 새 경로로 변경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880360"/>
            <a:ext cx="4114800" cy="178308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09160" y="2880360"/>
            <a:ext cx="411480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846320" y="3044952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46320" y="3044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304495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재인식 확인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5661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VS Code 재시작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ESP-IDF: Configure 실행 → 경로 정상 확인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485A02-296C-564E-3E9F-577597DC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ACF814-0CA8-95B7-0F32-D9E5BA4F062E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E68027-9D82-0E29-F613-95996B3DE499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의심 파일</a:t>
            </a:r>
            <a:endParaRPr lang="en-US" sz="2200" dirty="0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9AF7688D-8C95-DE4D-202A-3F4A348F75CD}"/>
              </a:ext>
            </a:extLst>
          </p:cNvPr>
          <p:cNvSpPr/>
          <p:nvPr/>
        </p:nvSpPr>
        <p:spPr>
          <a:xfrm>
            <a:off x="320040" y="894806"/>
            <a:ext cx="8503920" cy="4097072"/>
          </a:xfrm>
          <a:prstGeom prst="rect">
            <a:avLst/>
          </a:prstGeom>
          <a:solidFill>
            <a:srgbClr val="0D1117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BD299B1C-1D20-2D51-5769-5F4C59E15F69}"/>
              </a:ext>
            </a:extLst>
          </p:cNvPr>
          <p:cNvSpPr/>
          <p:nvPr/>
        </p:nvSpPr>
        <p:spPr>
          <a:xfrm>
            <a:off x="3511573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A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Espressif </a:t>
            </a:r>
            <a:r>
              <a:rPr lang="ko-KR" altLang="en-US" sz="1100">
                <a:solidFill>
                  <a:srgbClr val="8A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폴더 경로</a:t>
            </a:r>
            <a:endParaRPr lang="en-US" sz="110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395E4CC8-5F9D-886F-8451-061C69BA1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53" y="3371145"/>
            <a:ext cx="3794760" cy="1497413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B0291590-ED42-0C33-A3BB-2587AF6F61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000"/>
          <a:stretch>
            <a:fillRect/>
          </a:stretch>
        </p:blipFill>
        <p:spPr>
          <a:xfrm>
            <a:off x="4629847" y="2258941"/>
            <a:ext cx="4114801" cy="260961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452C674D-73BA-C0C7-6215-BC4B8505F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853" y="1078614"/>
            <a:ext cx="3105932" cy="2028008"/>
          </a:xfrm>
          <a:prstGeom prst="rect">
            <a:avLst/>
          </a:prstGeom>
        </p:spPr>
      </p:pic>
      <p:sp>
        <p:nvSpPr>
          <p:cNvPr id="39" name="Text 4">
            <a:extLst>
              <a:ext uri="{FF2B5EF4-FFF2-40B4-BE49-F238E27FC236}">
                <a16:creationId xmlns:a16="http://schemas.microsoft.com/office/drawing/2014/main" id="{98D4C8B9-C42E-ABA6-D9F0-20824A939C8A}"/>
              </a:ext>
            </a:extLst>
          </p:cNvPr>
          <p:cNvSpPr/>
          <p:nvPr/>
        </p:nvSpPr>
        <p:spPr>
          <a:xfrm>
            <a:off x="399352" y="310662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settings.json</a:t>
            </a:r>
            <a:endParaRPr lang="en-US" sz="1100" dirty="0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5DE4EF7D-3CC3-BEED-456F-9D0C8923D48E}"/>
              </a:ext>
            </a:extLst>
          </p:cNvPr>
          <p:cNvSpPr/>
          <p:nvPr/>
        </p:nvSpPr>
        <p:spPr>
          <a:xfrm>
            <a:off x="4629846" y="1938901"/>
            <a:ext cx="3249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A99A8"/>
                </a:solidFill>
                <a:latin typeface="Consolas" pitchFamily="34" charset="0"/>
              </a:rPr>
              <a:t>Microsoft.v5.5.3.PowerShell_profile.ps1</a:t>
            </a:r>
            <a:endParaRPr lang="en-US" sz="110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DB0A7B6-7DE8-DF03-BE5F-5CB553C4EAF6}"/>
              </a:ext>
            </a:extLst>
          </p:cNvPr>
          <p:cNvSpPr/>
          <p:nvPr/>
        </p:nvSpPr>
        <p:spPr>
          <a:xfrm>
            <a:off x="891073" y="2617237"/>
            <a:ext cx="1786813" cy="96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9FA5B1E-43C5-55A1-5A4D-692825D6015E}"/>
              </a:ext>
            </a:extLst>
          </p:cNvPr>
          <p:cNvSpPr/>
          <p:nvPr/>
        </p:nvSpPr>
        <p:spPr>
          <a:xfrm>
            <a:off x="891073" y="2765358"/>
            <a:ext cx="1786813" cy="96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77E9298-77AF-00D4-F45A-1FD51E5E08F6}"/>
              </a:ext>
            </a:extLst>
          </p:cNvPr>
          <p:cNvSpPr/>
          <p:nvPr/>
        </p:nvSpPr>
        <p:spPr>
          <a:xfrm>
            <a:off x="835089" y="4200408"/>
            <a:ext cx="1786813" cy="96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5B2F9C9-894B-04B3-046D-D5DAFBCAE434}"/>
              </a:ext>
            </a:extLst>
          </p:cNvPr>
          <p:cNvSpPr/>
          <p:nvPr/>
        </p:nvSpPr>
        <p:spPr>
          <a:xfrm>
            <a:off x="5033170" y="3348050"/>
            <a:ext cx="1167021" cy="96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035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443</Words>
  <Application>Microsoft Office PowerPoint</Application>
  <PresentationFormat>화면 슬라이드 쇼(16:9)</PresentationFormat>
  <Paragraphs>96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Office</cp:lastModifiedBy>
  <cp:revision>3</cp:revision>
  <dcterms:created xsi:type="dcterms:W3CDTF">2026-03-24T16:15:03Z</dcterms:created>
  <dcterms:modified xsi:type="dcterms:W3CDTF">2026-03-24T17:03:32Z</dcterms:modified>
</cp:coreProperties>
</file>